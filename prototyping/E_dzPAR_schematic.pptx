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PARcast</a:t>
            </a:r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E_d(z, PAR) breadboard wiring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In-water profiler: top-down view on a prototyping breadboard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3611880"/>
          </a:xfrm>
          <a:prstGeom prst="roundRect">
            <a:avLst>
              <a:gd name="adj" fmla="val 1519"/>
            </a:avLst>
          </a:prstGeom>
          <a:solidFill>
            <a:srgbClr val="F7F5EF"/>
          </a:solidFill>
          <a:ln w="9525">
            <a:solidFill>
              <a:srgbClr val="B8B4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44168"/>
            <a:ext cx="10698480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10698480" cy="0"/>
          </a:xfrm>
          <a:prstGeom prst="line">
            <a:avLst/>
          </a:prstGeom>
          <a:noFill/>
          <a:ln w="15875">
            <a:solidFill>
              <a:srgbClr val="1F6F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251960"/>
            <a:ext cx="10698480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4370832"/>
            <a:ext cx="10698480" cy="0"/>
          </a:xfrm>
          <a:prstGeom prst="line">
            <a:avLst/>
          </a:prstGeom>
          <a:noFill/>
          <a:ln w="15875">
            <a:solidFill>
              <a:srgbClr val="1F6F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2252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66576" y="12252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13441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B2"/>
                </a:solidFill>
              </a:rPr>
              <a:t>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66576" y="13441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B2"/>
                </a:solidFill>
              </a:rPr>
              <a:t>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" y="413308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66576" y="413308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" y="42519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B2"/>
                </a:solidFill>
              </a:rPr>
              <a:t>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66576" y="42519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B2"/>
                </a:solidFill>
              </a:rPr>
              <a:t>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19681" y="1143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5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319681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5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226332" y="1143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10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226332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10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132982" y="1143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15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32982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15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039633" y="1143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20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039633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20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946284" y="1143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25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946284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25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852935" y="1143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30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852935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30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759586" y="1143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35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759586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35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666237" y="1143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40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666237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40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72887" y="1143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45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572887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45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479538" y="1143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50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479538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50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386189" y="1143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55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0386189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55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1292840" y="1143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60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292840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680"/>
                </a:solidFill>
              </a:rPr>
              <a:t>60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2920" y="164592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539728" y="164592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1819656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b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539728" y="1819656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b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2920" y="1993392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c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539728" y="1993392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c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2920" y="216712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539728" y="216712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2920" y="2340864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539728" y="2340864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2920" y="315468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f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539728" y="3154680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f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2920" y="3328416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g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1539728" y="3328416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g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02920" y="3502152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h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1539728" y="3502152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h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2920" y="367588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i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1539728" y="3675888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i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02920" y="3849624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j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1539728" y="3849624"/>
            <a:ext cx="11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680"/>
                </a:solidFill>
              </a:rPr>
              <a:t>j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583307" y="1645920"/>
            <a:ext cx="1560369" cy="777240"/>
          </a:xfrm>
          <a:prstGeom prst="roundRect">
            <a:avLst>
              <a:gd name="adj" fmla="val 4706"/>
            </a:avLst>
          </a:prstGeom>
          <a:solidFill>
            <a:srgbClr val="CDEAE0"/>
          </a:solidFill>
          <a:ln w="15875">
            <a:solidFill>
              <a:srgbClr val="0F6E5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83307" y="1737360"/>
            <a:ext cx="1560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ADS1115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583307" y="2011680"/>
            <a:ext cx="15603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ADC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597023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 rot="5400000">
            <a:off x="1363851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778353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 rot="5400000">
            <a:off x="1545181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959683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 rot="5400000">
            <a:off x="1726511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141013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 rot="5400000">
            <a:off x="1907841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322344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 rot="5400000">
            <a:off x="2089172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503674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 rot="5400000">
            <a:off x="2270502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ALRT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685004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 rot="5400000">
            <a:off x="2451832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866334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 rot="5400000">
            <a:off x="2633162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047664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 rot="5400000">
            <a:off x="2814492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940599" y="1645920"/>
            <a:ext cx="1197709" cy="777240"/>
          </a:xfrm>
          <a:prstGeom prst="roundRect">
            <a:avLst>
              <a:gd name="adj" fmla="val 4706"/>
            </a:avLst>
          </a:prstGeom>
          <a:solidFill>
            <a:srgbClr val="E7DAF6"/>
          </a:solidFill>
          <a:ln w="15875">
            <a:solidFill>
              <a:srgbClr val="5B3F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940599" y="1737360"/>
            <a:ext cx="11977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DS3231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3940599" y="2011680"/>
            <a:ext cx="11977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clock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954315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 rot="5400000">
            <a:off x="3721143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135645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 rot="5400000">
            <a:off x="3902473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316975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 rot="5400000">
            <a:off x="4083803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498306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 rot="5400000">
            <a:off x="4265134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679636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 rot="5400000">
            <a:off x="4446464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SQW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4860966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 rot="5400000">
            <a:off x="4627794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32K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5042296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 rot="5400000">
            <a:off x="4809124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572571" y="1645920"/>
            <a:ext cx="835049" cy="777240"/>
          </a:xfrm>
          <a:prstGeom prst="roundRect">
            <a:avLst>
              <a:gd name="adj" fmla="val 4706"/>
            </a:avLst>
          </a:prstGeom>
          <a:solidFill>
            <a:srgbClr val="DCE8F5"/>
          </a:solidFill>
          <a:ln w="15875">
            <a:solidFill>
              <a:srgbClr val="0C2E5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572571" y="1737360"/>
            <a:ext cx="835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MS5837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5572571" y="2011680"/>
            <a:ext cx="835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(0x76)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586287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 rot="5400000">
            <a:off x="5353115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5767617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 rot="5400000">
            <a:off x="5534445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5948947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 rot="5400000">
            <a:off x="5715775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6130277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 rot="5400000">
            <a:off x="5897105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6841882" y="1645920"/>
            <a:ext cx="4280322" cy="777240"/>
          </a:xfrm>
          <a:prstGeom prst="roundRect">
            <a:avLst>
              <a:gd name="adj" fmla="val 4706"/>
            </a:avLst>
          </a:prstGeom>
          <a:solidFill>
            <a:srgbClr val="D4E4FA"/>
          </a:solidFill>
          <a:ln w="15875">
            <a:solidFill>
              <a:srgbClr val="1F4E9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841882" y="1737360"/>
            <a:ext cx="42803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Teensy 4.1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6855598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 rot="5400000">
            <a:off x="6622426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7036928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 rot="5400000">
            <a:off x="6803756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10663531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 rot="5400000">
            <a:off x="10430359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(SCL0)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10844861" y="2441448"/>
            <a:ext cx="82296" cy="82296"/>
          </a:xfrm>
          <a:prstGeom prst="ellipse">
            <a:avLst/>
          </a:prstGeom>
          <a:solidFill>
            <a:srgbClr val="2C2C2A"/>
          </a:solidFill>
          <a:ln w="12700">
            <a:solidFill>
              <a:srgbClr val="2C2C2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 rot="5400000">
            <a:off x="10611689" y="25877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(SDA0)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6983536" y="19385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Built-in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microSD slot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9427619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USB on right end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1638171" y="2482596"/>
            <a:ext cx="0" cy="1769364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819501" y="2482596"/>
            <a:ext cx="0" cy="1888236"/>
          </a:xfrm>
          <a:prstGeom prst="line">
            <a:avLst/>
          </a:prstGeom>
          <a:noFill/>
          <a:ln w="19050">
            <a:solidFill>
              <a:srgbClr val="2C2C2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995463" y="2482596"/>
            <a:ext cx="0" cy="1769364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176793" y="2482596"/>
            <a:ext cx="0" cy="1888236"/>
          </a:xfrm>
          <a:prstGeom prst="line">
            <a:avLst/>
          </a:prstGeom>
          <a:noFill/>
          <a:ln w="19050">
            <a:solidFill>
              <a:srgbClr val="2C2C2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627435" y="2482596"/>
            <a:ext cx="0" cy="1769364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08765" y="2482596"/>
            <a:ext cx="0" cy="1888236"/>
          </a:xfrm>
          <a:prstGeom prst="line">
            <a:avLst/>
          </a:prstGeom>
          <a:noFill/>
          <a:ln w="19050">
            <a:solidFill>
              <a:srgbClr val="2C2C2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896746" y="2482596"/>
            <a:ext cx="0" cy="1888236"/>
          </a:xfrm>
          <a:prstGeom prst="line">
            <a:avLst/>
          </a:prstGeom>
          <a:noFill/>
          <a:ln w="19050">
            <a:solidFill>
              <a:srgbClr val="2C2C2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078076" y="2482596"/>
            <a:ext cx="0" cy="1769364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94180" y="1344168"/>
            <a:ext cx="0" cy="2907792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275511" y="1463040"/>
            <a:ext cx="0" cy="2907792"/>
          </a:xfrm>
          <a:prstGeom prst="line">
            <a:avLst/>
          </a:prstGeom>
          <a:noFill/>
          <a:ln w="19050">
            <a:solidFill>
              <a:srgbClr val="2C2C2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000831" y="2482596"/>
            <a:ext cx="0" cy="777240"/>
          </a:xfrm>
          <a:prstGeom prst="line">
            <a:avLst/>
          </a:prstGeom>
          <a:noFill/>
          <a:ln w="19050">
            <a:solidFill>
              <a:srgbClr val="E3A81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358123" y="2482596"/>
            <a:ext cx="0" cy="777240"/>
          </a:xfrm>
          <a:prstGeom prst="line">
            <a:avLst/>
          </a:prstGeom>
          <a:noFill/>
          <a:ln w="19050">
            <a:solidFill>
              <a:srgbClr val="E3A81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990095" y="2482596"/>
            <a:ext cx="0" cy="777240"/>
          </a:xfrm>
          <a:prstGeom prst="line">
            <a:avLst/>
          </a:prstGeom>
          <a:noFill/>
          <a:ln w="19050">
            <a:solidFill>
              <a:srgbClr val="E3A81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704679" y="2482596"/>
            <a:ext cx="0" cy="777240"/>
          </a:xfrm>
          <a:prstGeom prst="line">
            <a:avLst/>
          </a:prstGeom>
          <a:noFill/>
          <a:ln w="19050">
            <a:solidFill>
              <a:srgbClr val="E3A81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000831" y="3259836"/>
            <a:ext cx="8703848" cy="0"/>
          </a:xfrm>
          <a:prstGeom prst="line">
            <a:avLst/>
          </a:prstGeom>
          <a:noFill/>
          <a:ln w="19050">
            <a:solidFill>
              <a:srgbClr val="E3A81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182161" y="2482596"/>
            <a:ext cx="0" cy="960120"/>
          </a:xfrm>
          <a:prstGeom prst="line">
            <a:avLst/>
          </a:prstGeom>
          <a:noFill/>
          <a:ln w="19050">
            <a:solidFill>
              <a:srgbClr val="1F6FB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539454" y="2482596"/>
            <a:ext cx="0" cy="960120"/>
          </a:xfrm>
          <a:prstGeom prst="line">
            <a:avLst/>
          </a:prstGeom>
          <a:noFill/>
          <a:ln w="19050">
            <a:solidFill>
              <a:srgbClr val="1F6FB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171425" y="2482596"/>
            <a:ext cx="0" cy="960120"/>
          </a:xfrm>
          <a:prstGeom prst="line">
            <a:avLst/>
          </a:prstGeom>
          <a:noFill/>
          <a:ln w="19050">
            <a:solidFill>
              <a:srgbClr val="1F6FB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886009" y="2482596"/>
            <a:ext cx="0" cy="960120"/>
          </a:xfrm>
          <a:prstGeom prst="line">
            <a:avLst/>
          </a:prstGeom>
          <a:noFill/>
          <a:ln w="19050">
            <a:solidFill>
              <a:srgbClr val="1F6FB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182161" y="3442716"/>
            <a:ext cx="8703848" cy="0"/>
          </a:xfrm>
          <a:prstGeom prst="line">
            <a:avLst/>
          </a:prstGeom>
          <a:noFill/>
          <a:ln w="19050">
            <a:solidFill>
              <a:srgbClr val="1F6FB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726152" y="4937760"/>
            <a:ext cx="0" cy="-2455164"/>
          </a:xfrm>
          <a:prstGeom prst="line">
            <a:avLst/>
          </a:prstGeom>
          <a:noFill/>
          <a:ln w="31750">
            <a:solidFill>
              <a:srgbClr val="2C2C2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726152" y="4937760"/>
            <a:ext cx="0" cy="-245516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907482" y="4937760"/>
            <a:ext cx="0" cy="-2455164"/>
          </a:xfrm>
          <a:prstGeom prst="line">
            <a:avLst/>
          </a:prstGeom>
          <a:noFill/>
          <a:ln w="19050">
            <a:solidFill>
              <a:srgbClr val="2C2C2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544822" y="4937760"/>
            <a:ext cx="0" cy="-566928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146" name="Shape 144"/>
          <p:cNvSpPr/>
          <p:nvPr/>
        </p:nvSpPr>
        <p:spPr>
          <a:xfrm>
            <a:off x="548640" y="4937760"/>
            <a:ext cx="4206240" cy="1417320"/>
          </a:xfrm>
          <a:prstGeom prst="roundRect">
            <a:avLst>
              <a:gd name="adj" fmla="val 2581"/>
            </a:avLst>
          </a:prstGeom>
          <a:solidFill>
            <a:srgbClr val="D4E4FA"/>
          </a:solidFill>
          <a:ln w="12700">
            <a:solidFill>
              <a:srgbClr val="1F4E91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48640" y="50292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Apogee SQ-500</a:t>
            </a:r>
            <a:endParaRPr lang="en-US" sz="1400" dirty="0"/>
          </a:p>
        </p:txBody>
      </p:sp>
      <p:sp>
        <p:nvSpPr>
          <p:cNvPr id="148" name="Text 146"/>
          <p:cNvSpPr/>
          <p:nvPr/>
        </p:nvSpPr>
        <p:spPr>
          <a:xfrm>
            <a:off x="548640" y="532180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sensor (0–40 mV, self-powered)</a:t>
            </a:r>
            <a:endParaRPr lang="en-US" sz="1000" dirty="0"/>
          </a:p>
        </p:txBody>
      </p:sp>
      <p:sp>
        <p:nvSpPr>
          <p:cNvPr id="149" name="Text 147"/>
          <p:cNvSpPr/>
          <p:nvPr/>
        </p:nvSpPr>
        <p:spPr>
          <a:xfrm>
            <a:off x="548640" y="554126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1559+: White / Black / Clear (grey)</a:t>
            </a:r>
            <a:endParaRPr lang="en-US" sz="900" dirty="0"/>
          </a:p>
        </p:txBody>
      </p:sp>
      <p:sp>
        <p:nvSpPr>
          <p:cNvPr id="150" name="Text 148"/>
          <p:cNvSpPr/>
          <p:nvPr/>
        </p:nvSpPr>
        <p:spPr>
          <a:xfrm>
            <a:off x="2441448" y="58064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→ A0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2441448" y="5971032"/>
            <a:ext cx="210312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B8B4A8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478024" y="597103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→ A1</a:t>
            </a:r>
            <a:endParaRPr lang="en-US" sz="900" dirty="0"/>
          </a:p>
        </p:txBody>
      </p:sp>
      <p:sp>
        <p:nvSpPr>
          <p:cNvPr id="153" name="Text 151"/>
          <p:cNvSpPr/>
          <p:nvPr/>
        </p:nvSpPr>
        <p:spPr>
          <a:xfrm>
            <a:off x="2441448" y="614476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(grey) → GND (shield)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5074920" y="49377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legend</a:t>
            </a:r>
            <a:endParaRPr lang="en-US" sz="1200" dirty="0"/>
          </a:p>
        </p:txBody>
      </p:sp>
      <p:sp>
        <p:nvSpPr>
          <p:cNvPr id="155" name="Shape 153"/>
          <p:cNvSpPr/>
          <p:nvPr/>
        </p:nvSpPr>
        <p:spPr>
          <a:xfrm>
            <a:off x="5120640" y="5312664"/>
            <a:ext cx="411480" cy="0"/>
          </a:xfrm>
          <a:prstGeom prst="line">
            <a:avLst/>
          </a:prstGeom>
          <a:noFill/>
          <a:ln w="22225">
            <a:solidFill>
              <a:srgbClr val="C0392B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577840" y="523036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3.3 V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5120640" y="5477256"/>
            <a:ext cx="411480" cy="0"/>
          </a:xfrm>
          <a:prstGeom prst="line">
            <a:avLst/>
          </a:prstGeom>
          <a:noFill/>
          <a:ln w="22225">
            <a:solidFill>
              <a:srgbClr val="2C2C2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5577840" y="539496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— GND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5120640" y="5641848"/>
            <a:ext cx="411480" cy="0"/>
          </a:xfrm>
          <a:prstGeom prst="line">
            <a:avLst/>
          </a:prstGeom>
          <a:noFill/>
          <a:ln w="22225">
            <a:solidFill>
              <a:srgbClr val="E3A81A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577840" y="555955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— SCL (I2C clock)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5120640" y="5806440"/>
            <a:ext cx="411480" cy="0"/>
          </a:xfrm>
          <a:prstGeom prst="line">
            <a:avLst/>
          </a:prstGeom>
          <a:noFill/>
          <a:ln w="22225">
            <a:solidFill>
              <a:srgbClr val="1F6FB2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577840" y="572414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— SDA (I2C data)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5120640" y="5971032"/>
            <a:ext cx="411480" cy="0"/>
          </a:xfrm>
          <a:prstGeom prst="line">
            <a:avLst/>
          </a:prstGeom>
          <a:noFill/>
          <a:ln w="31750">
            <a:solidFill>
              <a:srgbClr val="2C2C2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120640" y="5971032"/>
            <a:ext cx="4114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577840" y="588873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— SQ-500 signal +</a:t>
            </a:r>
            <a:endParaRPr lang="en-US" sz="1000" dirty="0"/>
          </a:p>
        </p:txBody>
      </p:sp>
      <p:sp>
        <p:nvSpPr>
          <p:cNvPr id="166" name="Shape 164"/>
          <p:cNvSpPr/>
          <p:nvPr/>
        </p:nvSpPr>
        <p:spPr>
          <a:xfrm>
            <a:off x="5120640" y="6135624"/>
            <a:ext cx="411480" cy="0"/>
          </a:xfrm>
          <a:prstGeom prst="line">
            <a:avLst/>
          </a:prstGeom>
          <a:noFill/>
          <a:ln w="22225">
            <a:solidFill>
              <a:srgbClr val="9CA3AF"/>
            </a:solidFill>
            <a:prstDash val="dash"/>
          </a:ln>
        </p:spPr>
      </p:sp>
      <p:sp>
        <p:nvSpPr>
          <p:cNvPr id="167" name="Text 165"/>
          <p:cNvSpPr/>
          <p:nvPr/>
        </p:nvSpPr>
        <p:spPr>
          <a:xfrm>
            <a:off x="5577840" y="605332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dashed — SQ-500 shield</a:t>
            </a:r>
            <a:endParaRPr lang="en-US" sz="1000" dirty="0"/>
          </a:p>
        </p:txBody>
      </p:sp>
      <p:sp>
        <p:nvSpPr>
          <p:cNvPr id="168" name="Text 166"/>
          <p:cNvSpPr/>
          <p:nvPr/>
        </p:nvSpPr>
        <p:spPr>
          <a:xfrm>
            <a:off x="8869680" y="4937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69" name="Text 167"/>
          <p:cNvSpPr/>
          <p:nvPr/>
        </p:nvSpPr>
        <p:spPr>
          <a:xfrm>
            <a:off x="8869680" y="5230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I2C bus shared by ADS1115, DS3231, MS5837</a:t>
            </a:r>
            <a:endParaRPr lang="en-US" sz="900" dirty="0"/>
          </a:p>
        </p:txBody>
      </p:sp>
      <p:sp>
        <p:nvSpPr>
          <p:cNvPr id="170" name="Text 168"/>
          <p:cNvSpPr/>
          <p:nvPr/>
        </p:nvSpPr>
        <p:spPr>
          <a:xfrm>
            <a:off x="8869680" y="54223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Addresses: 0x48, 0x68, 0x76</a:t>
            </a:r>
            <a:endParaRPr lang="en-US" sz="900" dirty="0"/>
          </a:p>
        </p:txBody>
      </p:sp>
      <p:sp>
        <p:nvSpPr>
          <p:cNvPr id="171" name="Text 169"/>
          <p:cNvSpPr/>
          <p:nvPr/>
        </p:nvSpPr>
        <p:spPr>
          <a:xfrm>
            <a:off x="8869680" y="56144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Teensy SDA0 = pin 18, SCL0 = pin 19</a:t>
            </a:r>
            <a:endParaRPr lang="en-US" sz="900" dirty="0"/>
          </a:p>
        </p:txBody>
      </p:sp>
      <p:sp>
        <p:nvSpPr>
          <p:cNvPr id="172" name="Text 170"/>
          <p:cNvSpPr/>
          <p:nvPr/>
        </p:nvSpPr>
        <p:spPr>
          <a:xfrm>
            <a:off x="8869680" y="58064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SQ-500 differential: reads A0 − A1</a:t>
            </a:r>
            <a:endParaRPr lang="en-US" sz="900" dirty="0"/>
          </a:p>
        </p:txBody>
      </p:sp>
      <p:sp>
        <p:nvSpPr>
          <p:cNvPr id="173" name="Text 171"/>
          <p:cNvSpPr/>
          <p:nvPr/>
        </p:nvSpPr>
        <p:spPr>
          <a:xfrm>
            <a:off x="8869680" y="59984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SQ-500 self-powered, no Vcc</a:t>
            </a:r>
            <a:endParaRPr lang="en-US" sz="900" dirty="0"/>
          </a:p>
        </p:txBody>
      </p:sp>
      <p:sp>
        <p:nvSpPr>
          <p:cNvPr id="174" name="Text 172"/>
          <p:cNvSpPr/>
          <p:nvPr/>
        </p:nvSpPr>
        <p:spPr>
          <a:xfrm>
            <a:off x="8869680" y="61904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Underwater: apply 1.25× immersion factor</a:t>
            </a:r>
            <a:endParaRPr lang="en-US" sz="900" dirty="0"/>
          </a:p>
        </p:txBody>
      </p:sp>
      <p:sp>
        <p:nvSpPr>
          <p:cNvPr id="175" name="Text 173"/>
          <p:cNvSpPr/>
          <p:nvPr/>
        </p:nvSpPr>
        <p:spPr>
          <a:xfrm>
            <a:off x="8869680" y="63825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MS5837 sealed via 1.8×0.8 mm O-ring</a:t>
            </a:r>
            <a:endParaRPr lang="en-US" sz="900" dirty="0"/>
          </a:p>
        </p:txBody>
      </p:sp>
      <p:sp>
        <p:nvSpPr>
          <p:cNvPr id="176" name="Text 174"/>
          <p:cNvSpPr/>
          <p:nvPr/>
        </p:nvSpPr>
        <p:spPr>
          <a:xfrm>
            <a:off x="457200" y="6565392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PARcast — github.com/LoriAzniveBerberian/PARcast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E_d(z, PAR) connection table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pin-by-pin reference for build and debug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554480"/>
                <a:gridCol w="1371600"/>
                <a:gridCol w="1463040"/>
                <a:gridCol w="384048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/ wire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/ wire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color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Teensy 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+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3.3 V distribution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Teensy 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–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ground distribution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+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–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+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DS3231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RTC 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–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DS3231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RTC 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+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MS5837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sensor 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–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MS5837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sensor 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Teensy 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18 (SDA0)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Teensy 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18 (SDA0)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DS3231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data (shared bus)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Teensy 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18 (SDA0)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MS5837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data (shared bus)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Teensy 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19 (SCL0)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clock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Teensy 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19 (SCL0)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DS3231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clock (shared bus)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Teensy 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19 (SCL0)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MS5837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clock (shared bus)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SQ-500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wire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signal positive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SQ-500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wire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ADS1115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signal negative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SQ-500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shield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–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 (dashed)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Shield to 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983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on bench testing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527608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I2C scanner sketch: 0x48 (ADS1115), 0x68 (DS3231), and 0x76 (MS5837) must all appear.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54955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only some addresses show, check SDA/SCL jumpers and common ground.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571500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SQ-500 is self-powered: never connect it to a voltage rail.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5934456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MS5837 PROM CRC is checked at startup — failure indicates wiring or sealing damage.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153912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Underwater PPFD = air PPFD × 1.25 (immersion correction for SQ-500-SS, S/N ≥ 2876).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565392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PARcast — github.com/LoriAzniveBerberian/PARcast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PARcast E_d(z, PAR) profiler — breadboard schematic</dc:title>
  <dc:subject>PptxGenJS Presentation</dc:subject>
  <dc:creator>PARcast</dc:creator>
  <cp:lastModifiedBy>PARcast</cp:lastModifiedBy>
  <cp:revision>1</cp:revision>
  <dcterms:created xsi:type="dcterms:W3CDTF">2026-04-26T05:53:53Z</dcterms:created>
  <dcterms:modified xsi:type="dcterms:W3CDTF">2026-04-26T05:53:53Z</dcterms:modified>
</cp:coreProperties>
</file>