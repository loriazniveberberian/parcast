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425"/>
    <p:restoredTop sz="94610"/>
  </p:normalViewPr>
  <p:slideViewPr>
    <p:cSldViewPr snapToGrid="0" snapToObjects="1">
      <p:cViewPr varScale="1">
        <p:scale>
          <a:sx n="90" d="100"/>
          <a:sy n="90" d="100"/>
        </p:scale>
        <p:origin x="208" y="9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5041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PARcast: E_d(z, PAR) breadboard wiring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In-water profiler: top-down view on a prototyping breadboard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1247120" cy="3611880"/>
          </a:xfrm>
          <a:prstGeom prst="roundRect">
            <a:avLst>
              <a:gd name="adj" fmla="val 1519"/>
            </a:avLst>
          </a:prstGeom>
          <a:solidFill>
            <a:srgbClr val="F7F5EF"/>
          </a:solidFill>
          <a:ln w="9525">
            <a:solidFill>
              <a:srgbClr val="B8B4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344168"/>
            <a:ext cx="10698480" cy="0"/>
          </a:xfrm>
          <a:prstGeom prst="line">
            <a:avLst/>
          </a:prstGeom>
          <a:noFill/>
          <a:ln w="15875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10698480" cy="0"/>
          </a:xfrm>
          <a:prstGeom prst="line">
            <a:avLst/>
          </a:prstGeom>
          <a:noFill/>
          <a:ln w="15875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4251960"/>
            <a:ext cx="10698480" cy="0"/>
          </a:xfrm>
          <a:prstGeom prst="line">
            <a:avLst/>
          </a:prstGeom>
          <a:noFill/>
          <a:ln w="15875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1520" y="4370832"/>
            <a:ext cx="10698480" cy="0"/>
          </a:xfrm>
          <a:prstGeom prst="line">
            <a:avLst/>
          </a:prstGeom>
          <a:noFill/>
          <a:ln w="15875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93776" y="1225296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0392B"/>
                </a:solidFill>
              </a:rPr>
              <a:t>+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466576" y="1225296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0392B"/>
                </a:solidFill>
              </a:rPr>
              <a:t>+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" y="1344168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6FB2"/>
                </a:solidFill>
              </a:rPr>
              <a:t>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466576" y="1344168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6FB2"/>
                </a:solidFill>
              </a:rPr>
              <a:t>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3776" y="4133088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0392B"/>
                </a:solidFill>
              </a:rPr>
              <a:t>+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466576" y="4133088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0392B"/>
                </a:solidFill>
              </a:rPr>
              <a:t>+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" y="4251960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6FB2"/>
                </a:solidFill>
              </a:rPr>
              <a:t>–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466576" y="4251960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6FB2"/>
                </a:solidFill>
              </a:rPr>
              <a:t>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19681" y="114300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</a:rPr>
              <a:t>5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319681" y="44805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</a:rPr>
              <a:t>5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2226332" y="114300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</a:rPr>
              <a:t>10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226332" y="44805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</a:rPr>
              <a:t>10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132982" y="114300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</a:rPr>
              <a:t>15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3132982" y="44805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</a:rPr>
              <a:t>15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4039633" y="114300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</a:rPr>
              <a:t>20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039633" y="44805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</a:rPr>
              <a:t>20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946284" y="114300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</a:rPr>
              <a:t>25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946284" y="44805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</a:rPr>
              <a:t>25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5852935" y="114300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</a:rPr>
              <a:t>30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5852935" y="44805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</a:rPr>
              <a:t>30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759586" y="114300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</a:rPr>
              <a:t>35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759586" y="44805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</a:rPr>
              <a:t>35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7666237" y="114300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</a:rPr>
              <a:t>40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7666237" y="44805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</a:rPr>
              <a:t>40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8572887" y="114300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</a:rPr>
              <a:t>45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8572887" y="44805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</a:rPr>
              <a:t>45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9479538" y="114300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</a:rPr>
              <a:t>50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9479538" y="44805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</a:rPr>
              <a:t>50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10386189" y="114300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</a:rPr>
              <a:t>55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10386189" y="44805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</a:rPr>
              <a:t>55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11292840" y="114300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</a:rPr>
              <a:t>60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11292840" y="44805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8680"/>
                </a:solidFill>
              </a:rPr>
              <a:t>60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02920" y="1645920"/>
            <a:ext cx="11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8680"/>
                </a:solidFill>
              </a:rPr>
              <a:t>a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1539728" y="1645920"/>
            <a:ext cx="11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8680"/>
                </a:solidFill>
              </a:rPr>
              <a:t>a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02920" y="1819656"/>
            <a:ext cx="11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8680"/>
                </a:solidFill>
              </a:rPr>
              <a:t>b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539728" y="1819656"/>
            <a:ext cx="11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8680"/>
                </a:solidFill>
              </a:rPr>
              <a:t>b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502920" y="1993392"/>
            <a:ext cx="11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8680"/>
                </a:solidFill>
              </a:rPr>
              <a:t>c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1539728" y="1993392"/>
            <a:ext cx="11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8680"/>
                </a:solidFill>
              </a:rPr>
              <a:t>c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02920" y="2167128"/>
            <a:ext cx="11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8680"/>
                </a:solidFill>
              </a:rPr>
              <a:t>d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1539728" y="2167128"/>
            <a:ext cx="11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8680"/>
                </a:solidFill>
              </a:rPr>
              <a:t>d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502920" y="2340864"/>
            <a:ext cx="11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8680"/>
                </a:solidFill>
              </a:rPr>
              <a:t>e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1539728" y="2340864"/>
            <a:ext cx="11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8680"/>
                </a:solidFill>
              </a:rPr>
              <a:t>e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02920" y="3154680"/>
            <a:ext cx="11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8680"/>
                </a:solidFill>
              </a:rPr>
              <a:t>f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11539728" y="3154680"/>
            <a:ext cx="11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8680"/>
                </a:solidFill>
              </a:rPr>
              <a:t>f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02920" y="3328416"/>
            <a:ext cx="11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8680"/>
                </a:solidFill>
              </a:rPr>
              <a:t>g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11539728" y="3328416"/>
            <a:ext cx="11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8680"/>
                </a:solidFill>
              </a:rPr>
              <a:t>g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502920" y="3502152"/>
            <a:ext cx="11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8680"/>
                </a:solidFill>
              </a:rPr>
              <a:t>h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11539728" y="3502152"/>
            <a:ext cx="11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8680"/>
                </a:solidFill>
              </a:rPr>
              <a:t>h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502920" y="3675888"/>
            <a:ext cx="11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8680"/>
                </a:solidFill>
              </a:rPr>
              <a:t>i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11539728" y="3675888"/>
            <a:ext cx="11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8680"/>
                </a:solidFill>
              </a:rPr>
              <a:t>i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02920" y="3849624"/>
            <a:ext cx="11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8680"/>
                </a:solidFill>
              </a:rPr>
              <a:t>j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11539728" y="3849624"/>
            <a:ext cx="11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8680"/>
                </a:solidFill>
              </a:rPr>
              <a:t>j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1583307" y="1645920"/>
            <a:ext cx="1560369" cy="777240"/>
          </a:xfrm>
          <a:prstGeom prst="roundRect">
            <a:avLst>
              <a:gd name="adj" fmla="val 4706"/>
            </a:avLst>
          </a:prstGeom>
          <a:solidFill>
            <a:srgbClr val="CDEAE0"/>
          </a:solidFill>
          <a:ln w="15875">
            <a:solidFill>
              <a:srgbClr val="0F6E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1583307" y="1737360"/>
            <a:ext cx="15603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ADS1115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1583307" y="2011680"/>
            <a:ext cx="156036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16-bit ADC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1597023" y="2441448"/>
            <a:ext cx="82296" cy="82296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 rot="5400000">
            <a:off x="1363851" y="2587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VDD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1778353" y="2441448"/>
            <a:ext cx="82296" cy="82296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 rot="5400000">
            <a:off x="1545181" y="2587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GND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1959683" y="2441448"/>
            <a:ext cx="82296" cy="82296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 rot="5400000">
            <a:off x="1726511" y="2587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SCL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2141013" y="2441448"/>
            <a:ext cx="82296" cy="82296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 rot="5400000">
            <a:off x="1907841" y="2587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SDA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2322344" y="2441448"/>
            <a:ext cx="82296" cy="82296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 rot="5400000">
            <a:off x="2089172" y="2587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2503674" y="2441448"/>
            <a:ext cx="82296" cy="82296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 rot="5400000">
            <a:off x="2270502" y="2587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ALRT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2685004" y="2441448"/>
            <a:ext cx="82296" cy="82296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 rot="5400000">
            <a:off x="2451832" y="2587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2866334" y="2441448"/>
            <a:ext cx="82296" cy="82296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 rot="5400000">
            <a:off x="2633162" y="2587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>
            <a:off x="3047664" y="2441448"/>
            <a:ext cx="82296" cy="82296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 rot="5400000">
            <a:off x="2814492" y="2587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3940599" y="1645920"/>
            <a:ext cx="1197709" cy="777240"/>
          </a:xfrm>
          <a:prstGeom prst="roundRect">
            <a:avLst>
              <a:gd name="adj" fmla="val 4706"/>
            </a:avLst>
          </a:prstGeom>
          <a:solidFill>
            <a:srgbClr val="E7DAF6"/>
          </a:solidFill>
          <a:ln w="15875">
            <a:solidFill>
              <a:srgbClr val="5B3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3940599" y="1737360"/>
            <a:ext cx="11977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DS3231</a:t>
            </a:r>
            <a:endParaRPr lang="en-US" sz="1300" dirty="0"/>
          </a:p>
        </p:txBody>
      </p:sp>
      <p:sp>
        <p:nvSpPr>
          <p:cNvPr id="84" name="Text 82"/>
          <p:cNvSpPr/>
          <p:nvPr/>
        </p:nvSpPr>
        <p:spPr>
          <a:xfrm>
            <a:off x="3940599" y="2011680"/>
            <a:ext cx="11977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clock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3954315" y="2441448"/>
            <a:ext cx="82296" cy="82296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 rot="5400000">
            <a:off x="3721143" y="2587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4135645" y="2441448"/>
            <a:ext cx="82296" cy="82296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86"/>
          <p:cNvSpPr/>
          <p:nvPr/>
        </p:nvSpPr>
        <p:spPr>
          <a:xfrm rot="5400000">
            <a:off x="3902473" y="2587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GND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4316975" y="2441448"/>
            <a:ext cx="82296" cy="82296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 rot="5400000">
            <a:off x="4083803" y="2587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SCL</a:t>
            </a:r>
            <a:endParaRPr lang="en-US" sz="750" dirty="0"/>
          </a:p>
        </p:txBody>
      </p:sp>
      <p:sp>
        <p:nvSpPr>
          <p:cNvPr id="91" name="Shape 89"/>
          <p:cNvSpPr/>
          <p:nvPr/>
        </p:nvSpPr>
        <p:spPr>
          <a:xfrm>
            <a:off x="4498306" y="2441448"/>
            <a:ext cx="82296" cy="82296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 rot="5400000">
            <a:off x="4265134" y="2587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SDA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4679636" y="2441448"/>
            <a:ext cx="82296" cy="82296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92"/>
          <p:cNvSpPr/>
          <p:nvPr/>
        </p:nvSpPr>
        <p:spPr>
          <a:xfrm rot="5400000">
            <a:off x="4446464" y="2587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SQW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4860966" y="2441448"/>
            <a:ext cx="82296" cy="82296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Text 94"/>
          <p:cNvSpPr/>
          <p:nvPr/>
        </p:nvSpPr>
        <p:spPr>
          <a:xfrm rot="5400000">
            <a:off x="4627794" y="2587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32K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5042296" y="2441448"/>
            <a:ext cx="82296" cy="82296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96"/>
          <p:cNvSpPr/>
          <p:nvPr/>
        </p:nvSpPr>
        <p:spPr>
          <a:xfrm rot="5400000">
            <a:off x="4809124" y="2587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RST</a:t>
            </a:r>
            <a:endParaRPr lang="en-US" sz="750" dirty="0"/>
          </a:p>
        </p:txBody>
      </p:sp>
      <p:sp>
        <p:nvSpPr>
          <p:cNvPr id="99" name="Shape 97"/>
          <p:cNvSpPr/>
          <p:nvPr/>
        </p:nvSpPr>
        <p:spPr>
          <a:xfrm>
            <a:off x="5572571" y="1645920"/>
            <a:ext cx="835049" cy="777240"/>
          </a:xfrm>
          <a:prstGeom prst="roundRect">
            <a:avLst>
              <a:gd name="adj" fmla="val 4706"/>
            </a:avLst>
          </a:prstGeom>
          <a:solidFill>
            <a:srgbClr val="DCE8F5"/>
          </a:solidFill>
          <a:ln w="15875">
            <a:solidFill>
              <a:srgbClr val="0C2E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Text 98"/>
          <p:cNvSpPr/>
          <p:nvPr/>
        </p:nvSpPr>
        <p:spPr>
          <a:xfrm>
            <a:off x="5572571" y="1737360"/>
            <a:ext cx="8350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C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MS5837</a:t>
            </a:r>
            <a:endParaRPr lang="en-US" sz="1300" dirty="0"/>
          </a:p>
        </p:txBody>
      </p:sp>
      <p:sp>
        <p:nvSpPr>
          <p:cNvPr id="101" name="Text 99"/>
          <p:cNvSpPr/>
          <p:nvPr/>
        </p:nvSpPr>
        <p:spPr>
          <a:xfrm>
            <a:off x="5572571" y="2011680"/>
            <a:ext cx="83504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(0x76)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5586287" y="2441448"/>
            <a:ext cx="82296" cy="82296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Text 101"/>
          <p:cNvSpPr/>
          <p:nvPr/>
        </p:nvSpPr>
        <p:spPr>
          <a:xfrm rot="5400000">
            <a:off x="5353115" y="2587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VDD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5767617" y="2441448"/>
            <a:ext cx="82296" cy="82296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 103"/>
          <p:cNvSpPr/>
          <p:nvPr/>
        </p:nvSpPr>
        <p:spPr>
          <a:xfrm rot="5400000">
            <a:off x="5534445" y="2587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GND</a:t>
            </a:r>
            <a:endParaRPr lang="en-US" sz="750" dirty="0"/>
          </a:p>
        </p:txBody>
      </p:sp>
      <p:sp>
        <p:nvSpPr>
          <p:cNvPr id="106" name="Shape 104"/>
          <p:cNvSpPr/>
          <p:nvPr/>
        </p:nvSpPr>
        <p:spPr>
          <a:xfrm>
            <a:off x="5948947" y="2441448"/>
            <a:ext cx="82296" cy="82296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Text 105"/>
          <p:cNvSpPr/>
          <p:nvPr/>
        </p:nvSpPr>
        <p:spPr>
          <a:xfrm rot="5400000">
            <a:off x="5715775" y="2587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SCL</a:t>
            </a:r>
            <a:endParaRPr lang="en-US" sz="750" dirty="0"/>
          </a:p>
        </p:txBody>
      </p:sp>
      <p:sp>
        <p:nvSpPr>
          <p:cNvPr id="108" name="Shape 106"/>
          <p:cNvSpPr/>
          <p:nvPr/>
        </p:nvSpPr>
        <p:spPr>
          <a:xfrm>
            <a:off x="6130277" y="2441448"/>
            <a:ext cx="82296" cy="82296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Text 107"/>
          <p:cNvSpPr/>
          <p:nvPr/>
        </p:nvSpPr>
        <p:spPr>
          <a:xfrm rot="5400000">
            <a:off x="5897105" y="2587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SDA</a:t>
            </a:r>
            <a:endParaRPr lang="en-US" sz="750" dirty="0"/>
          </a:p>
        </p:txBody>
      </p:sp>
      <p:sp>
        <p:nvSpPr>
          <p:cNvPr id="110" name="Shape 108"/>
          <p:cNvSpPr/>
          <p:nvPr/>
        </p:nvSpPr>
        <p:spPr>
          <a:xfrm>
            <a:off x="6841882" y="1645920"/>
            <a:ext cx="4280322" cy="777240"/>
          </a:xfrm>
          <a:prstGeom prst="roundRect">
            <a:avLst>
              <a:gd name="adj" fmla="val 4706"/>
            </a:avLst>
          </a:prstGeom>
          <a:solidFill>
            <a:srgbClr val="D4E4FA"/>
          </a:solidFill>
          <a:ln w="15875">
            <a:solidFill>
              <a:srgbClr val="1F4E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 109"/>
          <p:cNvSpPr/>
          <p:nvPr/>
        </p:nvSpPr>
        <p:spPr>
          <a:xfrm>
            <a:off x="6841882" y="1737360"/>
            <a:ext cx="42803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Teensy 4.1</a:t>
            </a:r>
            <a:endParaRPr lang="en-US" sz="1300" dirty="0"/>
          </a:p>
        </p:txBody>
      </p:sp>
      <p:sp>
        <p:nvSpPr>
          <p:cNvPr id="112" name="Shape 110"/>
          <p:cNvSpPr/>
          <p:nvPr/>
        </p:nvSpPr>
        <p:spPr>
          <a:xfrm>
            <a:off x="6855598" y="2441448"/>
            <a:ext cx="82296" cy="82296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Text 111"/>
          <p:cNvSpPr/>
          <p:nvPr/>
        </p:nvSpPr>
        <p:spPr>
          <a:xfrm rot="5400000">
            <a:off x="6622426" y="2587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GND</a:t>
            </a:r>
            <a:endParaRPr lang="en-US" sz="750" dirty="0"/>
          </a:p>
        </p:txBody>
      </p:sp>
      <p:sp>
        <p:nvSpPr>
          <p:cNvPr id="114" name="Shape 112"/>
          <p:cNvSpPr/>
          <p:nvPr/>
        </p:nvSpPr>
        <p:spPr>
          <a:xfrm>
            <a:off x="7036928" y="2441448"/>
            <a:ext cx="82296" cy="82296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Text 113"/>
          <p:cNvSpPr/>
          <p:nvPr/>
        </p:nvSpPr>
        <p:spPr>
          <a:xfrm rot="5400000">
            <a:off x="6803756" y="2587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3V3</a:t>
            </a:r>
            <a:endParaRPr lang="en-US" sz="750" dirty="0"/>
          </a:p>
        </p:txBody>
      </p:sp>
      <p:sp>
        <p:nvSpPr>
          <p:cNvPr id="116" name="Shape 114"/>
          <p:cNvSpPr/>
          <p:nvPr/>
        </p:nvSpPr>
        <p:spPr>
          <a:xfrm>
            <a:off x="10663531" y="2441448"/>
            <a:ext cx="82296" cy="82296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Text 115"/>
          <p:cNvSpPr/>
          <p:nvPr/>
        </p:nvSpPr>
        <p:spPr>
          <a:xfrm rot="5400000">
            <a:off x="10430359" y="2587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(SCL0)</a:t>
            </a:r>
            <a:endParaRPr lang="en-US" sz="750" dirty="0"/>
          </a:p>
        </p:txBody>
      </p:sp>
      <p:sp>
        <p:nvSpPr>
          <p:cNvPr id="118" name="Shape 116"/>
          <p:cNvSpPr/>
          <p:nvPr/>
        </p:nvSpPr>
        <p:spPr>
          <a:xfrm>
            <a:off x="10844861" y="2441448"/>
            <a:ext cx="82296" cy="82296"/>
          </a:xfrm>
          <a:prstGeom prst="ellipse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Text 117"/>
          <p:cNvSpPr/>
          <p:nvPr/>
        </p:nvSpPr>
        <p:spPr>
          <a:xfrm rot="5400000">
            <a:off x="10611689" y="2587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(SDA0)</a:t>
            </a:r>
            <a:endParaRPr lang="en-US" sz="750" dirty="0"/>
          </a:p>
        </p:txBody>
      </p:sp>
      <p:sp>
        <p:nvSpPr>
          <p:cNvPr id="120" name="Text 118"/>
          <p:cNvSpPr/>
          <p:nvPr/>
        </p:nvSpPr>
        <p:spPr>
          <a:xfrm>
            <a:off x="6983536" y="193852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B7280"/>
                </a:solidFill>
              </a:rPr>
              <a:t>Built-in</a:t>
            </a:r>
            <a:endParaRPr lang="en-US" sz="800" dirty="0"/>
          </a:p>
          <a:p>
            <a:pPr marL="0" indent="0" algn="ctr">
              <a:buNone/>
            </a:pPr>
            <a:r>
              <a:rPr lang="en-US" sz="800" i="1" dirty="0">
                <a:solidFill>
                  <a:srgbClr val="6B7280"/>
                </a:solidFill>
              </a:rPr>
              <a:t>microSD slot</a:t>
            </a:r>
            <a:endParaRPr lang="en-US" sz="800" dirty="0"/>
          </a:p>
        </p:txBody>
      </p:sp>
      <p:sp>
        <p:nvSpPr>
          <p:cNvPr id="121" name="Text 119"/>
          <p:cNvSpPr/>
          <p:nvPr/>
        </p:nvSpPr>
        <p:spPr>
          <a:xfrm>
            <a:off x="9427619" y="20116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B7280"/>
                </a:solidFill>
              </a:rPr>
              <a:t>USB on right end</a:t>
            </a:r>
            <a:endParaRPr lang="en-US" sz="800" dirty="0"/>
          </a:p>
        </p:txBody>
      </p:sp>
      <p:sp>
        <p:nvSpPr>
          <p:cNvPr id="122" name="Shape 120"/>
          <p:cNvSpPr/>
          <p:nvPr/>
        </p:nvSpPr>
        <p:spPr>
          <a:xfrm>
            <a:off x="1638171" y="2482596"/>
            <a:ext cx="0" cy="1769364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>
            <a:off x="1819501" y="2482596"/>
            <a:ext cx="0" cy="1888236"/>
          </a:xfrm>
          <a:prstGeom prst="line">
            <a:avLst/>
          </a:prstGeom>
          <a:noFill/>
          <a:ln w="1905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>
            <a:off x="3995463" y="2482596"/>
            <a:ext cx="0" cy="1769364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Shape 123"/>
          <p:cNvSpPr/>
          <p:nvPr/>
        </p:nvSpPr>
        <p:spPr>
          <a:xfrm>
            <a:off x="4176793" y="2482596"/>
            <a:ext cx="0" cy="1888236"/>
          </a:xfrm>
          <a:prstGeom prst="line">
            <a:avLst/>
          </a:prstGeom>
          <a:noFill/>
          <a:ln w="1905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>
            <a:off x="5627435" y="2482596"/>
            <a:ext cx="0" cy="1769364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>
            <a:off x="5808765" y="2482596"/>
            <a:ext cx="0" cy="1888236"/>
          </a:xfrm>
          <a:prstGeom prst="line">
            <a:avLst/>
          </a:prstGeom>
          <a:noFill/>
          <a:ln w="1905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6896746" y="2482596"/>
            <a:ext cx="0" cy="1888236"/>
          </a:xfrm>
          <a:prstGeom prst="line">
            <a:avLst/>
          </a:prstGeom>
          <a:noFill/>
          <a:ln w="1905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>
            <a:off x="7078076" y="2482596"/>
            <a:ext cx="0" cy="1769364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>
            <a:off x="1094180" y="1344168"/>
            <a:ext cx="0" cy="2907792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>
            <a:off x="1275511" y="1463040"/>
            <a:ext cx="0" cy="2907792"/>
          </a:xfrm>
          <a:prstGeom prst="line">
            <a:avLst/>
          </a:prstGeom>
          <a:noFill/>
          <a:ln w="1905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30"/>
          <p:cNvSpPr/>
          <p:nvPr/>
        </p:nvSpPr>
        <p:spPr>
          <a:xfrm>
            <a:off x="2000831" y="2482596"/>
            <a:ext cx="0" cy="777240"/>
          </a:xfrm>
          <a:prstGeom prst="line">
            <a:avLst/>
          </a:prstGeom>
          <a:noFill/>
          <a:ln w="19050">
            <a:solidFill>
              <a:srgbClr val="E3A8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31"/>
          <p:cNvSpPr/>
          <p:nvPr/>
        </p:nvSpPr>
        <p:spPr>
          <a:xfrm>
            <a:off x="4358123" y="2482596"/>
            <a:ext cx="0" cy="777240"/>
          </a:xfrm>
          <a:prstGeom prst="line">
            <a:avLst/>
          </a:prstGeom>
          <a:noFill/>
          <a:ln w="19050">
            <a:solidFill>
              <a:srgbClr val="E3A8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2"/>
          <p:cNvSpPr/>
          <p:nvPr/>
        </p:nvSpPr>
        <p:spPr>
          <a:xfrm>
            <a:off x="5990095" y="2482596"/>
            <a:ext cx="0" cy="777240"/>
          </a:xfrm>
          <a:prstGeom prst="line">
            <a:avLst/>
          </a:prstGeom>
          <a:noFill/>
          <a:ln w="19050">
            <a:solidFill>
              <a:srgbClr val="E3A8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133"/>
          <p:cNvSpPr/>
          <p:nvPr/>
        </p:nvSpPr>
        <p:spPr>
          <a:xfrm>
            <a:off x="10704679" y="2482596"/>
            <a:ext cx="0" cy="777240"/>
          </a:xfrm>
          <a:prstGeom prst="line">
            <a:avLst/>
          </a:prstGeom>
          <a:noFill/>
          <a:ln w="19050">
            <a:solidFill>
              <a:srgbClr val="E3A8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134"/>
          <p:cNvSpPr/>
          <p:nvPr/>
        </p:nvSpPr>
        <p:spPr>
          <a:xfrm>
            <a:off x="2000831" y="3259836"/>
            <a:ext cx="8703848" cy="0"/>
          </a:xfrm>
          <a:prstGeom prst="line">
            <a:avLst/>
          </a:prstGeom>
          <a:noFill/>
          <a:ln w="19050">
            <a:solidFill>
              <a:srgbClr val="E3A8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>
            <a:off x="2182161" y="2482596"/>
            <a:ext cx="0" cy="960120"/>
          </a:xfrm>
          <a:prstGeom prst="line">
            <a:avLst/>
          </a:prstGeom>
          <a:noFill/>
          <a:ln w="1905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>
            <a:off x="4539454" y="2482596"/>
            <a:ext cx="0" cy="960120"/>
          </a:xfrm>
          <a:prstGeom prst="line">
            <a:avLst/>
          </a:prstGeom>
          <a:noFill/>
          <a:ln w="1905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>
            <a:off x="6171425" y="2482596"/>
            <a:ext cx="0" cy="960120"/>
          </a:xfrm>
          <a:prstGeom prst="line">
            <a:avLst/>
          </a:prstGeom>
          <a:noFill/>
          <a:ln w="1905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>
            <a:off x="10886009" y="2482596"/>
            <a:ext cx="0" cy="960120"/>
          </a:xfrm>
          <a:prstGeom prst="line">
            <a:avLst/>
          </a:prstGeom>
          <a:noFill/>
          <a:ln w="1905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9"/>
          <p:cNvSpPr/>
          <p:nvPr/>
        </p:nvSpPr>
        <p:spPr>
          <a:xfrm>
            <a:off x="2182161" y="3442716"/>
            <a:ext cx="8703848" cy="0"/>
          </a:xfrm>
          <a:prstGeom prst="line">
            <a:avLst/>
          </a:prstGeom>
          <a:noFill/>
          <a:ln w="1905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40"/>
          <p:cNvSpPr/>
          <p:nvPr/>
        </p:nvSpPr>
        <p:spPr>
          <a:xfrm>
            <a:off x="2726152" y="4937760"/>
            <a:ext cx="0" cy="0"/>
          </a:xfrm>
          <a:prstGeom prst="line">
            <a:avLst/>
          </a:prstGeom>
          <a:noFill/>
          <a:ln w="3175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41"/>
          <p:cNvSpPr/>
          <p:nvPr/>
        </p:nvSpPr>
        <p:spPr>
          <a:xfrm>
            <a:off x="2726152" y="4937760"/>
            <a:ext cx="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42"/>
          <p:cNvSpPr/>
          <p:nvPr/>
        </p:nvSpPr>
        <p:spPr>
          <a:xfrm>
            <a:off x="2907482" y="4937760"/>
            <a:ext cx="0" cy="0"/>
          </a:xfrm>
          <a:prstGeom prst="line">
            <a:avLst/>
          </a:prstGeom>
          <a:noFill/>
          <a:ln w="1905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Shape 143"/>
          <p:cNvSpPr/>
          <p:nvPr/>
        </p:nvSpPr>
        <p:spPr>
          <a:xfrm>
            <a:off x="2544822" y="4937760"/>
            <a:ext cx="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6" name="Shape 144"/>
          <p:cNvSpPr/>
          <p:nvPr/>
        </p:nvSpPr>
        <p:spPr>
          <a:xfrm>
            <a:off x="548640" y="4937760"/>
            <a:ext cx="4206240" cy="1417320"/>
          </a:xfrm>
          <a:prstGeom prst="roundRect">
            <a:avLst>
              <a:gd name="adj" fmla="val 2581"/>
            </a:avLst>
          </a:prstGeom>
          <a:solidFill>
            <a:srgbClr val="D4E4FA"/>
          </a:solidFill>
          <a:ln w="12700">
            <a:solidFill>
              <a:srgbClr val="1F4E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Text 145"/>
          <p:cNvSpPr/>
          <p:nvPr/>
        </p:nvSpPr>
        <p:spPr>
          <a:xfrm>
            <a:off x="548640" y="50292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4E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Apogee SQ-500</a:t>
            </a:r>
            <a:endParaRPr lang="en-US" sz="1400" dirty="0"/>
          </a:p>
        </p:txBody>
      </p:sp>
      <p:sp>
        <p:nvSpPr>
          <p:cNvPr id="148" name="Text 146"/>
          <p:cNvSpPr/>
          <p:nvPr/>
        </p:nvSpPr>
        <p:spPr>
          <a:xfrm>
            <a:off x="548640" y="5321808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sensor (0–40 mV, self-powered)</a:t>
            </a:r>
            <a:endParaRPr lang="en-US" sz="1000" dirty="0"/>
          </a:p>
        </p:txBody>
      </p:sp>
      <p:sp>
        <p:nvSpPr>
          <p:cNvPr id="149" name="Text 147"/>
          <p:cNvSpPr/>
          <p:nvPr/>
        </p:nvSpPr>
        <p:spPr>
          <a:xfrm>
            <a:off x="548640" y="5541264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1559+: White / Black / Clear (grey)</a:t>
            </a:r>
            <a:endParaRPr lang="en-US" sz="900" dirty="0"/>
          </a:p>
        </p:txBody>
      </p:sp>
      <p:sp>
        <p:nvSpPr>
          <p:cNvPr id="150" name="Text 148"/>
          <p:cNvSpPr/>
          <p:nvPr/>
        </p:nvSpPr>
        <p:spPr>
          <a:xfrm>
            <a:off x="2441448" y="5806440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→ A0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2441448" y="5971032"/>
            <a:ext cx="2103120" cy="164592"/>
          </a:xfrm>
          <a:prstGeom prst="rect">
            <a:avLst/>
          </a:prstGeom>
          <a:solidFill>
            <a:srgbClr val="FFFFFF"/>
          </a:solidFill>
          <a:ln w="6350">
            <a:solidFill>
              <a:srgbClr val="B8B4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Text 150"/>
          <p:cNvSpPr/>
          <p:nvPr/>
        </p:nvSpPr>
        <p:spPr>
          <a:xfrm>
            <a:off x="2478024" y="5971032"/>
            <a:ext cx="2029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→ A1</a:t>
            </a:r>
            <a:endParaRPr lang="en-US" sz="900" dirty="0"/>
          </a:p>
        </p:txBody>
      </p:sp>
      <p:sp>
        <p:nvSpPr>
          <p:cNvPr id="153" name="Text 151"/>
          <p:cNvSpPr/>
          <p:nvPr/>
        </p:nvSpPr>
        <p:spPr>
          <a:xfrm>
            <a:off x="2441448" y="6144768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(grey) → GND (shield)</a:t>
            </a:r>
            <a:endParaRPr lang="en-US" sz="900" dirty="0"/>
          </a:p>
        </p:txBody>
      </p:sp>
      <p:sp>
        <p:nvSpPr>
          <p:cNvPr id="154" name="Text 152"/>
          <p:cNvSpPr/>
          <p:nvPr/>
        </p:nvSpPr>
        <p:spPr>
          <a:xfrm>
            <a:off x="5074920" y="493776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legend</a:t>
            </a:r>
            <a:endParaRPr lang="en-US" sz="1200" dirty="0"/>
          </a:p>
        </p:txBody>
      </p:sp>
      <p:sp>
        <p:nvSpPr>
          <p:cNvPr id="155" name="Shape 153"/>
          <p:cNvSpPr/>
          <p:nvPr/>
        </p:nvSpPr>
        <p:spPr>
          <a:xfrm>
            <a:off x="5120640" y="5312664"/>
            <a:ext cx="411480" cy="0"/>
          </a:xfrm>
          <a:prstGeom prst="line">
            <a:avLst/>
          </a:prstGeom>
          <a:noFill/>
          <a:ln w="22225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Text 154"/>
          <p:cNvSpPr/>
          <p:nvPr/>
        </p:nvSpPr>
        <p:spPr>
          <a:xfrm>
            <a:off x="5577840" y="5230368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— 3.3 V</a:t>
            </a:r>
            <a:endParaRPr lang="en-US" sz="1000" dirty="0"/>
          </a:p>
        </p:txBody>
      </p:sp>
      <p:sp>
        <p:nvSpPr>
          <p:cNvPr id="157" name="Shape 155"/>
          <p:cNvSpPr/>
          <p:nvPr/>
        </p:nvSpPr>
        <p:spPr>
          <a:xfrm>
            <a:off x="5120640" y="5477256"/>
            <a:ext cx="411480" cy="0"/>
          </a:xfrm>
          <a:prstGeom prst="line">
            <a:avLst/>
          </a:prstGeom>
          <a:noFill/>
          <a:ln w="22225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8" name="Text 156"/>
          <p:cNvSpPr/>
          <p:nvPr/>
        </p:nvSpPr>
        <p:spPr>
          <a:xfrm>
            <a:off x="5577840" y="539496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— GND</a:t>
            </a:r>
            <a:endParaRPr lang="en-US" sz="1000" dirty="0"/>
          </a:p>
        </p:txBody>
      </p:sp>
      <p:sp>
        <p:nvSpPr>
          <p:cNvPr id="159" name="Shape 157"/>
          <p:cNvSpPr/>
          <p:nvPr/>
        </p:nvSpPr>
        <p:spPr>
          <a:xfrm>
            <a:off x="5120640" y="5641848"/>
            <a:ext cx="411480" cy="0"/>
          </a:xfrm>
          <a:prstGeom prst="line">
            <a:avLst/>
          </a:prstGeom>
          <a:noFill/>
          <a:ln w="22225">
            <a:solidFill>
              <a:srgbClr val="E3A8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0" name="Text 158"/>
          <p:cNvSpPr/>
          <p:nvPr/>
        </p:nvSpPr>
        <p:spPr>
          <a:xfrm>
            <a:off x="5577840" y="5559552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— SCL (I2C clock)</a:t>
            </a:r>
            <a:endParaRPr lang="en-US" sz="1000" dirty="0"/>
          </a:p>
        </p:txBody>
      </p:sp>
      <p:sp>
        <p:nvSpPr>
          <p:cNvPr id="161" name="Shape 159"/>
          <p:cNvSpPr/>
          <p:nvPr/>
        </p:nvSpPr>
        <p:spPr>
          <a:xfrm>
            <a:off x="5120640" y="5806440"/>
            <a:ext cx="411480" cy="0"/>
          </a:xfrm>
          <a:prstGeom prst="line">
            <a:avLst/>
          </a:prstGeom>
          <a:noFill/>
          <a:ln w="22225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Text 160"/>
          <p:cNvSpPr/>
          <p:nvPr/>
        </p:nvSpPr>
        <p:spPr>
          <a:xfrm>
            <a:off x="5577840" y="5724144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— SDA (I2C data)</a:t>
            </a:r>
            <a:endParaRPr lang="en-US" sz="1000" dirty="0"/>
          </a:p>
        </p:txBody>
      </p:sp>
      <p:sp>
        <p:nvSpPr>
          <p:cNvPr id="163" name="Shape 161"/>
          <p:cNvSpPr/>
          <p:nvPr/>
        </p:nvSpPr>
        <p:spPr>
          <a:xfrm>
            <a:off x="5120640" y="5971032"/>
            <a:ext cx="411480" cy="0"/>
          </a:xfrm>
          <a:prstGeom prst="line">
            <a:avLst/>
          </a:prstGeom>
          <a:noFill/>
          <a:ln w="31750">
            <a:solidFill>
              <a:srgbClr val="2C2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4" name="Shape 162"/>
          <p:cNvSpPr/>
          <p:nvPr/>
        </p:nvSpPr>
        <p:spPr>
          <a:xfrm>
            <a:off x="5120640" y="5971032"/>
            <a:ext cx="41148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Text 163"/>
          <p:cNvSpPr/>
          <p:nvPr/>
        </p:nvSpPr>
        <p:spPr>
          <a:xfrm>
            <a:off x="5577840" y="5888736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— SQ-500 signal +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5120640" y="6135624"/>
            <a:ext cx="411480" cy="0"/>
          </a:xfrm>
          <a:prstGeom prst="line">
            <a:avLst/>
          </a:prstGeom>
          <a:noFill/>
          <a:ln w="22225">
            <a:solidFill>
              <a:srgbClr val="9CA3AF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67" name="Text 165"/>
          <p:cNvSpPr/>
          <p:nvPr/>
        </p:nvSpPr>
        <p:spPr>
          <a:xfrm>
            <a:off x="5577840" y="6053328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dashed — SQ-500 shield</a:t>
            </a:r>
            <a:endParaRPr lang="en-US" sz="1000" dirty="0"/>
          </a:p>
        </p:txBody>
      </p:sp>
      <p:sp>
        <p:nvSpPr>
          <p:cNvPr id="168" name="Text 166"/>
          <p:cNvSpPr/>
          <p:nvPr/>
        </p:nvSpPr>
        <p:spPr>
          <a:xfrm>
            <a:off x="8869680" y="49377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1200" dirty="0"/>
          </a:p>
        </p:txBody>
      </p:sp>
      <p:sp>
        <p:nvSpPr>
          <p:cNvPr id="169" name="Text 167"/>
          <p:cNvSpPr/>
          <p:nvPr/>
        </p:nvSpPr>
        <p:spPr>
          <a:xfrm>
            <a:off x="8869680" y="523036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I2C bus shared by ADS1115, DS3231, MS5837</a:t>
            </a:r>
            <a:endParaRPr lang="en-US" sz="900" dirty="0"/>
          </a:p>
        </p:txBody>
      </p:sp>
      <p:sp>
        <p:nvSpPr>
          <p:cNvPr id="170" name="Text 168"/>
          <p:cNvSpPr/>
          <p:nvPr/>
        </p:nvSpPr>
        <p:spPr>
          <a:xfrm>
            <a:off x="8869680" y="542239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Addresses: 0x48, 0x68, 0x76</a:t>
            </a:r>
            <a:endParaRPr lang="en-US" sz="900" dirty="0"/>
          </a:p>
        </p:txBody>
      </p:sp>
      <p:sp>
        <p:nvSpPr>
          <p:cNvPr id="171" name="Text 169"/>
          <p:cNvSpPr/>
          <p:nvPr/>
        </p:nvSpPr>
        <p:spPr>
          <a:xfrm>
            <a:off x="8869680" y="561441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Teensy SDA0 = pin 18, SCL0 = pin 19</a:t>
            </a:r>
            <a:endParaRPr lang="en-US" sz="900" dirty="0"/>
          </a:p>
        </p:txBody>
      </p:sp>
      <p:sp>
        <p:nvSpPr>
          <p:cNvPr id="172" name="Text 170"/>
          <p:cNvSpPr/>
          <p:nvPr/>
        </p:nvSpPr>
        <p:spPr>
          <a:xfrm>
            <a:off x="8869680" y="580644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SQ-500 differential: reads A0 − A1</a:t>
            </a:r>
            <a:endParaRPr lang="en-US" sz="900" dirty="0"/>
          </a:p>
        </p:txBody>
      </p:sp>
      <p:sp>
        <p:nvSpPr>
          <p:cNvPr id="173" name="Text 171"/>
          <p:cNvSpPr/>
          <p:nvPr/>
        </p:nvSpPr>
        <p:spPr>
          <a:xfrm>
            <a:off x="8869680" y="59984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SQ-500 self-powered, no Vcc</a:t>
            </a:r>
            <a:endParaRPr lang="en-US" sz="900" dirty="0"/>
          </a:p>
        </p:txBody>
      </p:sp>
      <p:sp>
        <p:nvSpPr>
          <p:cNvPr id="174" name="Text 172"/>
          <p:cNvSpPr/>
          <p:nvPr/>
        </p:nvSpPr>
        <p:spPr>
          <a:xfrm>
            <a:off x="8869680" y="619048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Underwater: apply 1.25× immersion factor</a:t>
            </a:r>
            <a:endParaRPr lang="en-US" sz="900" dirty="0"/>
          </a:p>
        </p:txBody>
      </p:sp>
      <p:sp>
        <p:nvSpPr>
          <p:cNvPr id="175" name="Text 173"/>
          <p:cNvSpPr/>
          <p:nvPr/>
        </p:nvSpPr>
        <p:spPr>
          <a:xfrm>
            <a:off x="8869680" y="638251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MS5837 sealed via 1.8×0.8 mm O-ring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E_d(z, PAR) connection table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pin-by-pin reference for build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9878173"/>
              </p:ext>
            </p:extLst>
          </p:nvPr>
        </p:nvGraphicFramePr>
        <p:xfrm>
          <a:off x="472440" y="1062228"/>
          <a:ext cx="11247120" cy="4733544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 / wire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 / wire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 color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Teensy 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3V3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Breadboard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+ rail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3.3 V distribution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Teensy 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Breadboard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– rail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ground distribution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+ rail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ADS1115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ADC power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– rail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ADS1115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ADC ground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+ rail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DS3231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RTC power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– rail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DS3231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RTC ground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+ rail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MS5837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Pressure sensor power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– rail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MS5837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Pressure sensor ground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Teensy 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 18 (SDA0)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ADS1115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I2C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Teensy 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 18 (SDA0)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DS3231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I2C data (shared bus)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Teensy 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 18 (SDA0)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MS5837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I2C data (shared bus)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Teensy 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 19 (SCL0)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ADS1115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Yellow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I2C clock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Teensy 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 19 (SCL0)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DS3231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Yellow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I2C clock (shared bus)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Teensy 4.1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 19 (SCL0)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MS5837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Yellow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I2C clock (shared bus)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SQ-500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 wire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ADS1115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signal positive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SQ-500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 wire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ADS1115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signal negative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SQ-500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 shield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Bottom – rail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 (dashed)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Shield to ground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478</Words>
  <Application>Microsoft Macintosh PowerPoint</Application>
  <PresentationFormat>Widescreen</PresentationFormat>
  <Paragraphs>221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PARcast E_d(z, PAR) profiler — breadboard schematic</dc:title>
  <dc:subject>PptxGenJS Presentation</dc:subject>
  <dc:creator>PARcast</dc:creator>
  <cp:lastModifiedBy>Lori Berberian</cp:lastModifiedBy>
  <cp:revision>2</cp:revision>
  <dcterms:created xsi:type="dcterms:W3CDTF">2026-04-26T05:53:53Z</dcterms:created>
  <dcterms:modified xsi:type="dcterms:W3CDTF">2026-04-27T03:21:20Z</dcterms:modified>
</cp:coreProperties>
</file>