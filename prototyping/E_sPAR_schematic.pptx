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79" d="100"/>
          <a:sy n="79" d="100"/>
        </p:scale>
        <p:origin x="840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88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60">
            <a:extLst>
              <a:ext uri="{FF2B5EF4-FFF2-40B4-BE49-F238E27FC236}">
                <a16:creationId xmlns:a16="http://schemas.microsoft.com/office/drawing/2014/main" id="{636F5B52-8E83-EB72-A838-97BD714A8BA1}"/>
              </a:ext>
            </a:extLst>
          </p:cNvPr>
          <p:cNvSpPr/>
          <p:nvPr/>
        </p:nvSpPr>
        <p:spPr>
          <a:xfrm rot="5400000">
            <a:off x="2443457" y="4449694"/>
            <a:ext cx="443633" cy="608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698ACBE-BA6A-C136-0A86-CFDBE2A61ABC}"/>
              </a:ext>
            </a:extLst>
          </p:cNvPr>
          <p:cNvSpPr/>
          <p:nvPr/>
        </p:nvSpPr>
        <p:spPr>
          <a:xfrm>
            <a:off x="6574360" y="5745308"/>
            <a:ext cx="468085" cy="5225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PARcast</a:t>
            </a: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200" b="1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E_s</a:t>
            </a: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(PAR) breadboard wiring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reference sensor: top-down view on a prototyping breadboard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3200400"/>
          </a:xfrm>
          <a:prstGeom prst="roundRect">
            <a:avLst>
              <a:gd name="adj" fmla="val 2286"/>
            </a:avLst>
          </a:prstGeom>
          <a:solidFill>
            <a:srgbClr val="F7F5EF"/>
          </a:solidFill>
          <a:ln w="12700">
            <a:solidFill>
              <a:srgbClr val="B8B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4405" y="1097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179812" y="1097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035218" y="1097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90625" y="1097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746031" y="1097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01437" y="1097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56844" y="1097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312250" y="1097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167657" y="1097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023063" y="1097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878470" y="1097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733876" y="1097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85800" y="1380744"/>
            <a:ext cx="10789920" cy="0"/>
          </a:xfrm>
          <a:prstGeom prst="line">
            <a:avLst/>
          </a:prstGeom>
          <a:noFill/>
          <a:ln w="9525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1563624"/>
            <a:ext cx="10789920" cy="0"/>
          </a:xfrm>
          <a:prstGeom prst="line">
            <a:avLst/>
          </a:prstGeom>
          <a:noFill/>
          <a:ln w="9525">
            <a:solidFill>
              <a:srgbClr val="1F6F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2893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14721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12893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0" y="14721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17373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17373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186537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186537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199339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199339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212140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212140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224942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224942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7240" y="2587752"/>
            <a:ext cx="10607040" cy="0"/>
          </a:xfrm>
          <a:prstGeom prst="line">
            <a:avLst/>
          </a:prstGeom>
          <a:noFill/>
          <a:ln w="6350">
            <a:solidFill>
              <a:srgbClr val="D9D5C7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02920" y="269748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269748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28254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28254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29535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29535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3081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3081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32095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32095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5800" y="3822192"/>
            <a:ext cx="10789920" cy="0"/>
          </a:xfrm>
          <a:prstGeom prst="line">
            <a:avLst/>
          </a:prstGeom>
          <a:noFill/>
          <a:ln w="9525">
            <a:solidFill>
              <a:srgbClr val="C039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4005072"/>
            <a:ext cx="10789920" cy="0"/>
          </a:xfrm>
          <a:prstGeom prst="line">
            <a:avLst/>
          </a:prstGeom>
          <a:noFill/>
          <a:ln w="9525">
            <a:solidFill>
              <a:srgbClr val="1F6F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24405" y="4087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179812" y="4087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035218" y="4087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890625" y="4087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746031" y="4087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601437" y="4087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456844" y="4087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312250" y="4087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167657" y="4087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9023063" y="4087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9878470" y="4087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0733876" y="4087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586926" y="1737360"/>
            <a:ext cx="1289009" cy="685800"/>
          </a:xfrm>
          <a:prstGeom prst="roundRect">
            <a:avLst>
              <a:gd name="adj" fmla="val 8000"/>
            </a:avLst>
          </a:prstGeom>
          <a:solidFill>
            <a:srgbClr val="CDEAE0"/>
          </a:solidFill>
          <a:ln w="15240">
            <a:solidFill>
              <a:srgbClr val="0F6E5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86926" y="1810512"/>
            <a:ext cx="12890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ADS1115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1586926" y="2103120"/>
            <a:ext cx="12890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ADC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596070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 rot="16200000">
            <a:off x="1449766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767152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 rot="16200000">
            <a:off x="1620848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938233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 rot="16200000">
            <a:off x="1791929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109314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 rot="16200000">
            <a:off x="1963010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280396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 rot="16200000">
            <a:off x="2134092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451477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 rot="16200000">
            <a:off x="2305173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622558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 rot="16200000">
            <a:off x="2476254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793639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 rot="16200000">
            <a:off x="2647335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964721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 rot="16200000">
            <a:off x="2818417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135802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 rot="16200000">
            <a:off x="2989498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153146" y="1737360"/>
            <a:ext cx="1117928" cy="685800"/>
          </a:xfrm>
          <a:prstGeom prst="roundRect">
            <a:avLst>
              <a:gd name="adj" fmla="val 8000"/>
            </a:avLst>
          </a:prstGeom>
          <a:solidFill>
            <a:srgbClr val="E7DAF6"/>
          </a:solidFill>
          <a:ln w="15240">
            <a:solidFill>
              <a:srgbClr val="5B3FA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53146" y="1810512"/>
            <a:ext cx="1117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2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DS3231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4153146" y="2103120"/>
            <a:ext cx="1117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C2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clock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162290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 rot="16200000">
            <a:off x="4015986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333371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 rot="16200000">
            <a:off x="4187067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504452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 rot="16200000">
            <a:off x="4358148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675534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 rot="16200000">
            <a:off x="4529230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846615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 rot="16200000">
            <a:off x="4700311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SQW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017696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 rot="16200000">
            <a:off x="4871392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188778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 rot="16200000">
            <a:off x="5042474" y="2551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548284" y="1737360"/>
            <a:ext cx="4368472" cy="685800"/>
          </a:xfrm>
          <a:prstGeom prst="roundRect">
            <a:avLst>
              <a:gd name="adj" fmla="val 8000"/>
            </a:avLst>
          </a:prstGeom>
          <a:solidFill>
            <a:srgbClr val="D4E4FA"/>
          </a:solidFill>
          <a:ln w="15240">
            <a:solidFill>
              <a:srgbClr val="1F4E9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48284" y="1810512"/>
            <a:ext cx="436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Teensy 4.1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6548284" y="2121408"/>
            <a:ext cx="4368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557428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 rot="16200000">
            <a:off x="6319684" y="2551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6728509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 rot="16200000">
            <a:off x="6490765" y="2551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9979054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 rot="16200000">
            <a:off x="9658227" y="2711195"/>
            <a:ext cx="548640" cy="228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(SCL0)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10150135" y="2459736"/>
            <a:ext cx="73152" cy="73152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 rot="16200000">
            <a:off x="9854872" y="2665555"/>
            <a:ext cx="548640" cy="283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(SDA0)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1632646" y="1380744"/>
            <a:ext cx="0" cy="1115568"/>
          </a:xfrm>
          <a:prstGeom prst="line">
            <a:avLst/>
          </a:prstGeom>
          <a:noFill/>
          <a:ln w="25400">
            <a:solidFill>
              <a:srgbClr val="D645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803728" y="1563624"/>
            <a:ext cx="0" cy="93268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98866" y="1380744"/>
            <a:ext cx="0" cy="1115568"/>
          </a:xfrm>
          <a:prstGeom prst="line">
            <a:avLst/>
          </a:prstGeom>
          <a:noFill/>
          <a:ln w="25400">
            <a:solidFill>
              <a:srgbClr val="D645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369947" y="1563624"/>
            <a:ext cx="0" cy="93268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594004" y="1563624"/>
            <a:ext cx="0" cy="93268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765085" y="1380744"/>
            <a:ext cx="0" cy="1115568"/>
          </a:xfrm>
          <a:prstGeom prst="line">
            <a:avLst/>
          </a:prstGeom>
          <a:noFill/>
          <a:ln w="25400">
            <a:solidFill>
              <a:srgbClr val="D645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015630" y="2496312"/>
            <a:ext cx="0" cy="1042416"/>
          </a:xfrm>
          <a:prstGeom prst="line">
            <a:avLst/>
          </a:prstGeom>
          <a:noFill/>
          <a:ln w="25400">
            <a:solidFill>
              <a:srgbClr val="E3A81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974809" y="3538728"/>
            <a:ext cx="8040821" cy="0"/>
          </a:xfrm>
          <a:prstGeom prst="line">
            <a:avLst/>
          </a:prstGeom>
          <a:noFill/>
          <a:ln w="25400">
            <a:solidFill>
              <a:srgbClr val="E3A81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974809" y="2496312"/>
            <a:ext cx="0" cy="1042416"/>
          </a:xfrm>
          <a:prstGeom prst="line">
            <a:avLst/>
          </a:prstGeom>
          <a:noFill/>
          <a:ln w="25400">
            <a:solidFill>
              <a:srgbClr val="E3A81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541028" y="2496312"/>
            <a:ext cx="0" cy="1042416"/>
          </a:xfrm>
          <a:prstGeom prst="line">
            <a:avLst/>
          </a:prstGeom>
          <a:noFill/>
          <a:ln w="25400">
            <a:solidFill>
              <a:srgbClr val="E3A8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186711" y="2496312"/>
            <a:ext cx="0" cy="877824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145890" y="3374136"/>
            <a:ext cx="8040821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145890" y="2496312"/>
            <a:ext cx="0" cy="877824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12110" y="2496312"/>
            <a:ext cx="0" cy="877824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71600" y="4709160"/>
            <a:ext cx="4139852" cy="914400"/>
          </a:xfrm>
          <a:prstGeom prst="roundRect">
            <a:avLst>
              <a:gd name="adj" fmla="val 8000"/>
            </a:avLst>
          </a:prstGeom>
          <a:solidFill>
            <a:srgbClr val="DCE8F5"/>
          </a:solidFill>
          <a:ln w="15240">
            <a:solidFill>
              <a:srgbClr val="1F4E9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371600" y="4818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Apogee SQ-500</a:t>
            </a:r>
            <a:endParaRPr lang="en-US" sz="1300" dirty="0"/>
          </a:p>
        </p:txBody>
      </p:sp>
      <p:sp>
        <p:nvSpPr>
          <p:cNvPr id="125" name="Text 123"/>
          <p:cNvSpPr/>
          <p:nvPr/>
        </p:nvSpPr>
        <p:spPr>
          <a:xfrm>
            <a:off x="1371600" y="5120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C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sensor (0–40 mV, self-powered)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1371600" y="5349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C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1559+: White / Black / Clear (grey)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 flipH="1">
            <a:off x="2203409" y="4005072"/>
            <a:ext cx="2879" cy="694944"/>
          </a:xfrm>
          <a:prstGeom prst="line">
            <a:avLst/>
          </a:prstGeom>
          <a:noFill/>
          <a:ln w="25400">
            <a:solidFill>
              <a:srgbClr val="9CA3AF"/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>
            <a:off x="2833370" y="2532888"/>
            <a:ext cx="1" cy="218690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108960" y="4709160"/>
            <a:ext cx="0" cy="0"/>
          </a:xfrm>
          <a:prstGeom prst="line">
            <a:avLst/>
          </a:prstGeom>
          <a:noFill/>
          <a:ln w="25400">
            <a:solidFill>
              <a:srgbClr val="BFB8A5"/>
            </a:solidFill>
            <a:prstDash val="dash"/>
          </a:ln>
        </p:spPr>
      </p:sp>
      <p:sp>
        <p:nvSpPr>
          <p:cNvPr id="130" name="Text 128"/>
          <p:cNvSpPr/>
          <p:nvPr/>
        </p:nvSpPr>
        <p:spPr>
          <a:xfrm>
            <a:off x="4023360" y="4754880"/>
            <a:ext cx="1375358" cy="20116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White → A0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4027785" y="4983480"/>
            <a:ext cx="1370933" cy="2011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Black → A1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4023360" y="5212080"/>
            <a:ext cx="1369095" cy="201168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Clear (grey) → GND (shield)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58368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legend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6583680" y="4965192"/>
            <a:ext cx="457200" cy="0"/>
          </a:xfrm>
          <a:prstGeom prst="line">
            <a:avLst/>
          </a:prstGeom>
          <a:noFill/>
          <a:ln w="31750">
            <a:solidFill>
              <a:srgbClr val="D6454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132320" y="4892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3.3 V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6583680" y="5166360"/>
            <a:ext cx="45720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132320" y="50932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— GND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6583680" y="5367528"/>
            <a:ext cx="457200" cy="0"/>
          </a:xfrm>
          <a:prstGeom prst="line">
            <a:avLst/>
          </a:prstGeom>
          <a:noFill/>
          <a:ln w="31750">
            <a:solidFill>
              <a:srgbClr val="E3A81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132320" y="52943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— SCL (I2C clock)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6583680" y="5568696"/>
            <a:ext cx="4572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132320" y="54955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— SDA (I2C data)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6583680" y="5775001"/>
            <a:ext cx="457200" cy="0"/>
          </a:xfrm>
          <a:prstGeom prst="line">
            <a:avLst/>
          </a:prstGeom>
          <a:noFill/>
          <a:ln w="317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3" name="Text 141"/>
          <p:cNvSpPr/>
          <p:nvPr/>
        </p:nvSpPr>
        <p:spPr>
          <a:xfrm>
            <a:off x="7132320" y="56967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— SQ-500 signal +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6583680" y="5971032"/>
            <a:ext cx="457200" cy="0"/>
          </a:xfrm>
          <a:prstGeom prst="line">
            <a:avLst/>
          </a:prstGeom>
          <a:noFill/>
          <a:ln w="31750">
            <a:solidFill>
              <a:srgbClr val="BFB8A5"/>
            </a:solidFill>
            <a:prstDash val="dash"/>
          </a:ln>
        </p:spPr>
      </p:sp>
      <p:sp>
        <p:nvSpPr>
          <p:cNvPr id="145" name="Text 143"/>
          <p:cNvSpPr/>
          <p:nvPr/>
        </p:nvSpPr>
        <p:spPr>
          <a:xfrm>
            <a:off x="7132320" y="58978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dashed — SQ-500 shield</a:t>
            </a:r>
            <a:endParaRPr lang="en-US" sz="1000" dirty="0"/>
          </a:p>
        </p:txBody>
      </p:sp>
      <p:sp>
        <p:nvSpPr>
          <p:cNvPr id="146" name="Text 144"/>
          <p:cNvSpPr/>
          <p:nvPr/>
        </p:nvSpPr>
        <p:spPr>
          <a:xfrm>
            <a:off x="9601200" y="4572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47" name="Text 145"/>
          <p:cNvSpPr/>
          <p:nvPr/>
        </p:nvSpPr>
        <p:spPr>
          <a:xfrm>
            <a:off x="9601200" y="4892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I2C bus shared by ADS1115 and DS3231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9601200" y="5093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ADS1115 address 0x48, DS3231 address 0x68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9601200" y="5294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Teensy SDA0 = pin 18, SCL0 = pin 19</a:t>
            </a:r>
            <a:endParaRPr lang="en-US" sz="900" dirty="0"/>
          </a:p>
        </p:txBody>
      </p:sp>
      <p:sp>
        <p:nvSpPr>
          <p:cNvPr id="150" name="Text 148"/>
          <p:cNvSpPr/>
          <p:nvPr/>
        </p:nvSpPr>
        <p:spPr>
          <a:xfrm>
            <a:off x="9601200" y="54955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SQ-500 differential: reads A0 − A1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9601200" y="5696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SQ-500 is self-powered, no Vcc</a:t>
            </a:r>
            <a:endParaRPr lang="en-US" sz="900" dirty="0"/>
          </a:p>
        </p:txBody>
      </p:sp>
      <p:sp>
        <p:nvSpPr>
          <p:cNvPr id="152" name="Text 150"/>
          <p:cNvSpPr/>
          <p:nvPr/>
        </p:nvSpPr>
        <p:spPr>
          <a:xfrm>
            <a:off x="9601200" y="5897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microSD lives in Teensy built-in slot</a:t>
            </a:r>
            <a:endParaRPr lang="en-US" sz="900" dirty="0"/>
          </a:p>
        </p:txBody>
      </p:sp>
      <p:sp>
        <p:nvSpPr>
          <p:cNvPr id="153" name="Text 151"/>
          <p:cNvSpPr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PARcast — github.com/LoriAzniveBerberian/PARcast</a:t>
            </a:r>
            <a:endParaRPr lang="en-US" sz="900" dirty="0"/>
          </a:p>
        </p:txBody>
      </p:sp>
      <p:sp>
        <p:nvSpPr>
          <p:cNvPr id="154" name="Shape 125">
            <a:extLst>
              <a:ext uri="{FF2B5EF4-FFF2-40B4-BE49-F238E27FC236}">
                <a16:creationId xmlns:a16="http://schemas.microsoft.com/office/drawing/2014/main" id="{BD90AC4E-F88F-1FE8-AD20-6C5DDF8B7AAE}"/>
              </a:ext>
            </a:extLst>
          </p:cNvPr>
          <p:cNvSpPr/>
          <p:nvPr/>
        </p:nvSpPr>
        <p:spPr>
          <a:xfrm>
            <a:off x="2662288" y="2499488"/>
            <a:ext cx="2" cy="2191494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3EE5172-B279-5962-D628-9C50CA0CEC26}"/>
              </a:ext>
            </a:extLst>
          </p:cNvPr>
          <p:cNvSpPr/>
          <p:nvPr/>
        </p:nvSpPr>
        <p:spPr>
          <a:xfrm rot="16200000">
            <a:off x="6857932" y="1810753"/>
            <a:ext cx="573887" cy="550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17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microSD slot</a:t>
            </a:r>
            <a:endParaRPr lang="en-US" sz="1000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F448CFD-7A7B-F0C0-F405-3519F6905515}"/>
              </a:ext>
            </a:extLst>
          </p:cNvPr>
          <p:cNvSpPr/>
          <p:nvPr/>
        </p:nvSpPr>
        <p:spPr>
          <a:xfrm rot="5400000">
            <a:off x="10297191" y="1800233"/>
            <a:ext cx="573887" cy="550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7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17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right end</a:t>
            </a:r>
            <a:endParaRPr lang="en-US" sz="900" dirty="0"/>
          </a:p>
        </p:txBody>
      </p:sp>
      <p:sp>
        <p:nvSpPr>
          <p:cNvPr id="162" name="Shape 125">
            <a:extLst>
              <a:ext uri="{FF2B5EF4-FFF2-40B4-BE49-F238E27FC236}">
                <a16:creationId xmlns:a16="http://schemas.microsoft.com/office/drawing/2014/main" id="{A09B5B6B-4803-6DB3-024F-05CA1278C3FE}"/>
              </a:ext>
            </a:extLst>
          </p:cNvPr>
          <p:cNvSpPr/>
          <p:nvPr/>
        </p:nvSpPr>
        <p:spPr>
          <a:xfrm>
            <a:off x="2314375" y="2496406"/>
            <a:ext cx="7623" cy="1508666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E_s</a:t>
            </a: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(PAR) connection table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pin-by-pin reference for build and debug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11430000" cy="409651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/ wire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/ wire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color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+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3.3 V distribution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–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ground distribution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+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–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+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DS3231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RTC 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–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DS3231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RTC 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18 (SDA0)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18 (SDA0)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DS3231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data (shared bus)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19 (SCL0)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clock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19 (SCL0)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DS3231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clock (shared bus)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SQ-500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wire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signal positive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SQ-500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wire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signal negative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SQ-500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shield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–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 (dashed)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Shield to 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562356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on bench testing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594360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I2C scanner sketch: both 0x48 (ADS1115) and 0x68 (DS3231) must appear.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6144768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only one address shows, check SDA/SCL jumpers and common ground.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634593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SQ-500 is self-powered: never connect it to a voltage rail.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654710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Teensy pins 18/19 (SDA0/SCL0) are on the right-side header; count from the USB end.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</TotalTime>
  <Words>490</Words>
  <Application>Microsoft Macintosh PowerPoint</Application>
  <PresentationFormat>Widescreen</PresentationFormat>
  <Paragraphs>193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PARcast L_PAR Breadboard Schematic</dc:title>
  <dc:subject>PptxGenJS Presentation</dc:subject>
  <dc:creator>Lori A. Berberian</dc:creator>
  <cp:lastModifiedBy>Lori Berberian</cp:lastModifiedBy>
  <cp:revision>6</cp:revision>
  <dcterms:created xsi:type="dcterms:W3CDTF">2026-04-22T18:21:00Z</dcterms:created>
  <dcterms:modified xsi:type="dcterms:W3CDTF">2026-04-24T21:24:27Z</dcterms:modified>
</cp:coreProperties>
</file>